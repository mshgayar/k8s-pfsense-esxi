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51760"/>
            <a:ext cx="164592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2651760"/>
            <a:ext cx="54864" cy="16459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Kubernetes HA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B"/>
                </a:solidFill>
              </a:rPr>
              <a:t>Complete Infrastructure Build — VMware ESXi · pfSense · Kubernetes v1.30.14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0CAF9"/>
                </a:solidFill>
              </a:rPr>
              <a:t>mo.lab.local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55448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K8s v1.30.14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3840480"/>
            <a:ext cx="1554480" cy="38404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Calico v3.27.0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6" y="3840480"/>
            <a:ext cx="155448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MetalLB v0.14.5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9824" y="3840480"/>
            <a:ext cx="155448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 Masters + 3 Workers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4032" y="3840480"/>
            <a:ext cx="15544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3840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Status: Operational</a:t>
            </a:r>
          </a:p>
        </p:txBody>
      </p:sp>
      <p:pic>
        <p:nvPicPr>
          <p:cNvPr id="20" name="Picture 19" descr="diagram-k8s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5760"/>
            <a:ext cx="3657600" cy="49338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6035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Presented by Mohammed Salah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6035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0CAF9"/>
                </a:solidFill>
              </a:rPr>
              <a:t>mo.lab.local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8016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Why this lab?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Business / learning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0604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Lab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815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Full topology — ESXi, pfSense, DNS, NFS, HAProxy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3192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Kubernetes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074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3-master HA, etcd Raft, Calico CNI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6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Platform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7332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MetalLB, Dashboard, Metrics Server, NFS Storage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18872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630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28016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Traffic Flow &amp; Scheduling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75564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How packets and pods reach the right place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51460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51460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788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60604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Kafka — Next 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0815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Corelight / Zeek log ingestion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4048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84048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114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3192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Live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074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kubectl, Dashboard, HAProxy stats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16636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166360"/>
            <a:ext cx="50292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4406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25780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Lessons Learned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7332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Key challenges and how they were solved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This Lab?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Motivation and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8288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Build hands-on K8s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Move beyond managed cloud K8s (EKS/GKE) — own the full control plane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8288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Production-grade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3 control-plane nodes with stacked etcd — real quorum, real failover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18288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Network security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39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Isolated lab network via pfSense NAT — mirrors enterprise DMZ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0624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18288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Corelight / Zeek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451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Build the receiver pipeline before the sensor arrives — Kafka as the buffer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212080"/>
            <a:ext cx="18288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57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Full-stack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50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Metrics Server, Dashboard, HAProxy stats — nothing is a black 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Full topology — all components and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3716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34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143000"/>
            <a:ext cx="173736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34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143000"/>
            <a:ext cx="118872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234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143000"/>
            <a:ext cx="201168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234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581912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733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infra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581912"/>
            <a:ext cx="1737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4792" y="16733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172.25.25.254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581912"/>
            <a:ext cx="1188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152" y="1673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RHEL 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581912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16733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BIND9 DNS + NFS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20824"/>
            <a:ext cx="137160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1122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manager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2020824"/>
            <a:ext cx="17373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21122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172.25.25.5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2020824"/>
            <a:ext cx="118872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2112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RHEL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020824"/>
            <a:ext cx="201168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1122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Ansible + Helm + kubectl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459736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5511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lb-k8s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2459736"/>
            <a:ext cx="1737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64792" y="25511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172.25.25.10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2459736"/>
            <a:ext cx="1188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25511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RHEL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459736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25511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HAProxy 2.8.14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898648"/>
            <a:ext cx="137160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29900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master1/2/3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2898648"/>
            <a:ext cx="17373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64792" y="29900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172.25.25.11-13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2898648"/>
            <a:ext cx="118872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2152" y="29900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Ubuntu 22.04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898648"/>
            <a:ext cx="201168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29900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K8s Control Plane + etcd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337560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3429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worker1/2/3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3337560"/>
            <a:ext cx="1737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64792" y="3429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172.25.25.21-23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000" y="3337560"/>
            <a:ext cx="1188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2152" y="34290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Ubuntu 22.04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3337560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90872" y="3429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K8s Workers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959352"/>
            <a:ext cx="621792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395935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vSwitch0 192.168.1.0/24 — Home LAN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398264"/>
            <a:ext cx="6217920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39826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vSwitch1 172.25.25.0/24 — K8s Lab Network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4882896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pfSense 2.8.1 — NAT between home LAN and lab network
MetalLB L2 pool: 172.25.25.100–150</a:t>
            </a:r>
          </a:p>
        </p:txBody>
      </p:sp>
      <p:pic>
        <p:nvPicPr>
          <p:cNvPr id="59" name="Picture 58" descr="diagram-k8s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349240" cy="72157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Kubernetes HA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v1.30.14 · 3-master stacked etcd · kubeadm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749039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35661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 Plane ×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347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</a:rPr>
              <a:t>• kube-apiserver — handles all K8s API calls</a:t>
            </a:r>
          </a:p>
          <a:p>
            <a:r>
              <a:rPr sz="1300">
                <a:solidFill>
                  <a:srgbClr val="212121"/>
                </a:solidFill>
              </a:rPr>
              <a:t>• kube-controller-manager — reconciles desired state</a:t>
            </a:r>
          </a:p>
          <a:p>
            <a:r>
              <a:rPr sz="1300">
                <a:solidFill>
                  <a:srgbClr val="212121"/>
                </a:solidFill>
              </a:rPr>
              <a:t>• kube-scheduler — assigns pods to nodes</a:t>
            </a:r>
          </a:p>
          <a:p>
            <a:r>
              <a:rPr sz="1300">
                <a:solidFill>
                  <a:srgbClr val="212121"/>
                </a:solidFill>
              </a:rPr>
              <a:t>• etcd — cluster state database (Raft quorum)</a:t>
            </a:r>
          </a:p>
          <a:p>
            <a:r>
              <a:rPr sz="1300">
                <a:solidFill>
                  <a:srgbClr val="212121"/>
                </a:solidFill>
              </a:rPr>
              <a:t>• Leader election: 1 active CM + 1 active scheduler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09728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39" y="1097280"/>
            <a:ext cx="3749039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1115568"/>
            <a:ext cx="35661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etcd — Raft Consensus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664208"/>
            <a:ext cx="347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</a:rPr>
              <a:t>• 3-node cluster: 2/3 quorum to commit writes</a:t>
            </a:r>
          </a:p>
          <a:p>
            <a:r>
              <a:rPr sz="1300">
                <a:solidFill>
                  <a:srgbClr val="212121"/>
                </a:solidFill>
              </a:rPr>
              <a:t>• One leader, two followers — auto re-election</a:t>
            </a:r>
          </a:p>
          <a:p>
            <a:r>
              <a:rPr sz="1300">
                <a:solidFill>
                  <a:srgbClr val="212121"/>
                </a:solidFill>
              </a:rPr>
              <a:t>• Survives any single master going down</a:t>
            </a:r>
          </a:p>
          <a:p>
            <a:r>
              <a:rPr sz="1300">
                <a:solidFill>
                  <a:srgbClr val="212121"/>
                </a:solidFill>
              </a:rPr>
              <a:t>• Stacked: etcd co-located on each master</a:t>
            </a:r>
          </a:p>
          <a:p>
            <a:r>
              <a:rPr sz="1300">
                <a:solidFill>
                  <a:srgbClr val="212121"/>
                </a:solidFill>
              </a:rPr>
              <a:t>• TLS encrypted peer and client 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09728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097280"/>
            <a:ext cx="3749039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6" y="1115568"/>
            <a:ext cx="356615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Worker Nodes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1664208"/>
            <a:ext cx="347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</a:rPr>
              <a:t>• kubelet — manages pod lifecycle on the node</a:t>
            </a:r>
          </a:p>
          <a:p>
            <a:r>
              <a:rPr sz="1300">
                <a:solidFill>
                  <a:srgbClr val="212121"/>
                </a:solidFill>
              </a:rPr>
              <a:t>• kube-proxy — iptables rules for Service routing</a:t>
            </a:r>
          </a:p>
          <a:p>
            <a:r>
              <a:rPr sz="1300">
                <a:solidFill>
                  <a:srgbClr val="212121"/>
                </a:solidFill>
              </a:rPr>
              <a:t>• containerd — container runtime (SystemdCgroup)</a:t>
            </a:r>
          </a:p>
          <a:p>
            <a:r>
              <a:rPr sz="1300">
                <a:solidFill>
                  <a:srgbClr val="212121"/>
                </a:solidFill>
              </a:rPr>
              <a:t>• Calico node — enforces network policy</a:t>
            </a:r>
          </a:p>
          <a:p>
            <a:r>
              <a:rPr sz="1300">
                <a:solidFill>
                  <a:srgbClr val="212121"/>
                </a:solidFill>
              </a:rPr>
              <a:t>• NFS mounts — dynamic PVC via nfs-storage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Platform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MetalLB · Dashboard · Metrics Server · NFS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889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8892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MetalLB v0.14.5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565C0"/>
                </a:solidFill>
              </a:rPr>
              <a:t>172.25.25.100–150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93392"/>
            <a:ext cx="2587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12121"/>
                </a:solidFill>
              </a:rPr>
              <a:t>• L2 advertisement mode</a:t>
            </a:r>
          </a:p>
          <a:p>
            <a:r>
              <a:rPr sz="1250">
                <a:solidFill>
                  <a:srgbClr val="212121"/>
                </a:solidFill>
              </a:rPr>
              <a:t>• Assigns real IPs to LoadBalancer services</a:t>
            </a:r>
          </a:p>
          <a:p>
            <a:r>
              <a:rPr sz="1250">
                <a:solidFill>
                  <a:srgbClr val="212121"/>
                </a:solidFill>
              </a:rPr>
              <a:t>• Dashboard → .100, Kafka → .101</a:t>
            </a:r>
          </a:p>
          <a:p>
            <a:r>
              <a:rPr sz="1250">
                <a:solidFill>
                  <a:srgbClr val="212121"/>
                </a:solidFill>
              </a:rPr>
              <a:t>• No cloud provider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27889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097280"/>
            <a:ext cx="2788920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Kubernetes Dashboard v2.7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572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</a:rPr>
              <a:t>https://172.25.25.100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993392"/>
            <a:ext cx="2587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12121"/>
                </a:solidFill>
              </a:rPr>
              <a:t>• Full cluster visibility</a:t>
            </a:r>
          </a:p>
          <a:p>
            <a:r>
              <a:rPr sz="1250">
                <a:solidFill>
                  <a:srgbClr val="212121"/>
                </a:solidFill>
              </a:rPr>
              <a:t>• Bearer token auth (100yr token)</a:t>
            </a:r>
          </a:p>
          <a:p>
            <a:r>
              <a:rPr sz="1250">
                <a:solidFill>
                  <a:srgbClr val="212121"/>
                </a:solidFill>
              </a:rPr>
              <a:t>• CPU/memory graphs via Metrics Server</a:t>
            </a:r>
          </a:p>
          <a:p>
            <a:r>
              <a:rPr sz="1250">
                <a:solidFill>
                  <a:srgbClr val="212121"/>
                </a:solidFill>
              </a:rPr>
              <a:t>• Pod logs, exec into containers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7889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2788920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Metrics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572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3A5C"/>
                </a:solidFill>
              </a:rPr>
              <a:t>kubectl top nodes/pods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993392"/>
            <a:ext cx="2587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12121"/>
                </a:solidFill>
              </a:rPr>
              <a:t>• --kubelet-insecure-tls patch applied</a:t>
            </a:r>
          </a:p>
          <a:p>
            <a:r>
              <a:rPr sz="1250">
                <a:solidFill>
                  <a:srgbClr val="212121"/>
                </a:solidFill>
              </a:rPr>
              <a:t>• Feeds Dashboard resource graphs</a:t>
            </a:r>
          </a:p>
          <a:p>
            <a:r>
              <a:rPr sz="1250">
                <a:solidFill>
                  <a:srgbClr val="212121"/>
                </a:solidFill>
              </a:rPr>
              <a:t>• HPA autoscaling source</a:t>
            </a:r>
          </a:p>
          <a:p>
            <a:r>
              <a:rPr sz="1250">
                <a:solidFill>
                  <a:srgbClr val="212121"/>
                </a:solidFill>
              </a:rPr>
              <a:t>• No cert required in 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7889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2788920" cy="43891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NFS Dynamic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572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148C"/>
                </a:solidFill>
              </a:rPr>
              <a:t>StorageClass: nfs-storage (default)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993392"/>
            <a:ext cx="2587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12121"/>
                </a:solidFill>
              </a:rPr>
              <a:t>• NFS Subdir External Provisioner via Helm</a:t>
            </a:r>
          </a:p>
          <a:p>
            <a:r>
              <a:rPr sz="1250">
                <a:solidFill>
                  <a:srgbClr val="212121"/>
                </a:solidFill>
              </a:rPr>
              <a:t>• Auto-creates subdirs per PVC</a:t>
            </a:r>
          </a:p>
          <a:p>
            <a:r>
              <a:rPr sz="1250">
                <a:solidFill>
                  <a:srgbClr val="212121"/>
                </a:solidFill>
              </a:rPr>
              <a:t>• ReadWriteMany — multiple pods share volume</a:t>
            </a:r>
          </a:p>
          <a:p>
            <a:r>
              <a:rPr sz="1250">
                <a:solidFill>
                  <a:srgbClr val="212121"/>
                </a:solidFill>
              </a:rPr>
              <a:t>• 172.25.25.254:/home/nfs/k8s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Traffic Flow &amp; Pod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How packets and pods reach the right destination</a:t>
            </a:r>
          </a:p>
        </p:txBody>
      </p:sp>
      <p:pic>
        <p:nvPicPr>
          <p:cNvPr id="6" name="Picture 5" descr="diagram-traffic-schedu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943600" cy="104564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097280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182880" cy="1691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External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12121"/>
                </a:solidFill>
              </a:rPr>
              <a:t>• pfSense NAT → HAProxy (172.25.25.10)</a:t>
            </a:r>
          </a:p>
          <a:p>
            <a:r>
              <a:rPr sz="1200">
                <a:solidFill>
                  <a:srgbClr val="212121"/>
                </a:solidFill>
              </a:rPr>
              <a:t>• Port 80/443 → worker ingress</a:t>
            </a:r>
          </a:p>
          <a:p>
            <a:r>
              <a:rPr sz="1200">
                <a:solidFill>
                  <a:srgbClr val="212121"/>
                </a:solidFill>
              </a:rPr>
              <a:t>• Port 6443 → control plane API (roundrobin)</a:t>
            </a:r>
          </a:p>
          <a:p>
            <a:r>
              <a:rPr sz="1200">
                <a:solidFill>
                  <a:srgbClr val="212121"/>
                </a:solidFill>
              </a:rPr>
              <a:t>• MetalLB L2 responds to ARP for VIPs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26080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926080"/>
            <a:ext cx="182880" cy="16916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99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kubectl apply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8328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12121"/>
                </a:solidFill>
              </a:rPr>
              <a:t>• API Server validates + stores in etcd</a:t>
            </a:r>
          </a:p>
          <a:p>
            <a:r>
              <a:rPr sz="1200">
                <a:solidFill>
                  <a:srgbClr val="212121"/>
                </a:solidFill>
              </a:rPr>
              <a:t>• Scheduler selects best worker node</a:t>
            </a:r>
          </a:p>
          <a:p>
            <a:r>
              <a:rPr sz="1200">
                <a:solidFill>
                  <a:srgbClr val="212121"/>
                </a:solidFill>
              </a:rPr>
              <a:t>• kubelet pulls image, starts container</a:t>
            </a:r>
          </a:p>
          <a:p>
            <a:r>
              <a:rPr sz="1200">
                <a:solidFill>
                  <a:srgbClr val="212121"/>
                </a:solidFill>
              </a:rPr>
              <a:t>• Calico programs iptables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754880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754880"/>
            <a:ext cx="182880" cy="1691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828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</a:rPr>
              <a:t>Scheduler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21208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12121"/>
                </a:solidFill>
              </a:rPr>
              <a:t>• NodeResourcesFit — enough CPU/RAM?</a:t>
            </a:r>
          </a:p>
          <a:p>
            <a:r>
              <a:rPr sz="1200">
                <a:solidFill>
                  <a:srgbClr val="212121"/>
                </a:solidFill>
              </a:rPr>
              <a:t>• PodTopologySpread — spread across nodes</a:t>
            </a:r>
          </a:p>
          <a:p>
            <a:r>
              <a:rPr sz="1200">
                <a:solidFill>
                  <a:srgbClr val="212121"/>
                </a:solidFill>
              </a:rPr>
              <a:t>• Taints/tolerations — exclude masters</a:t>
            </a:r>
          </a:p>
          <a:p>
            <a:r>
              <a:rPr sz="1200">
                <a:solidFill>
                  <a:srgbClr val="212121"/>
                </a:solidFill>
              </a:rPr>
              <a:t>• Score → highest-score node wins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Next: Kafka for Corelight / Zeek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Strimzi · KRaft mode · 3 brokers · NFS storage</a:t>
            </a:r>
          </a:p>
        </p:txBody>
      </p:sp>
      <p:pic>
        <p:nvPicPr>
          <p:cNvPr id="6" name="Picture 5" descr="diagram-kafka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669280" cy="8507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188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</a:rPr>
              <a:t>• 3 Kafka brokers — one per worker node</a:t>
            </a:r>
          </a:p>
          <a:p>
            <a:r>
              <a:rPr sz="1300">
                <a:solidFill>
                  <a:srgbClr val="212121"/>
                </a:solidFill>
              </a:rPr>
              <a:t>• KRaft mode — no Zookeeper dependency</a:t>
            </a:r>
          </a:p>
          <a:p>
            <a:r>
              <a:rPr sz="1300">
                <a:solidFill>
                  <a:srgbClr val="212121"/>
                </a:solidFill>
              </a:rPr>
              <a:t>• Replication Factor 2 — survives 1 broker failure</a:t>
            </a:r>
          </a:p>
          <a:p>
            <a:r>
              <a:rPr sz="1300">
                <a:solidFill>
                  <a:srgbClr val="212121"/>
                </a:solidFill>
              </a:rPr>
              <a:t>• NFS PVCs (20Gi each) — durable storage</a:t>
            </a:r>
          </a:p>
          <a:p>
            <a:r>
              <a:rPr sz="1300">
                <a:solidFill>
                  <a:srgbClr val="212121"/>
                </a:solidFill>
              </a:rPr>
              <a:t>• MetalLB VIP 172.25.25.101:9092 — external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749039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Log Topics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251960"/>
            <a:ext cx="169164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251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corelight.conn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4251960"/>
            <a:ext cx="1691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251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corelight.dns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4251960"/>
            <a:ext cx="1691640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4251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corelight.http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690872"/>
            <a:ext cx="1691640" cy="347472"/>
          </a:xfrm>
          <a:prstGeom prst="rect">
            <a:avLst/>
          </a:prstGeom>
          <a:solidFill>
            <a:srgbClr val="4A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6908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corelight.ssl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4690872"/>
            <a:ext cx="169164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46908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corelight.files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4690872"/>
            <a:ext cx="169164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46908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corelight.weird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212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Strimzi Operator deploys and manages the entire cluster.
Corelight sensor connects to the MetalLB VIP — no cluster changes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Key challenges encountered and how they were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978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Flannel on Ubuntu 22.04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54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Flannel v0.28.5 requires /opt/bin which does not exist on Ubuntu 22.04 — CrashLoopBackOff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305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✓ Switched to Calico v3.27.0. Ships as a single manifest, no host binary dependencies, full network policy support.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6692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66928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1978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etcd Stale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554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A failed kubeadm join left a ghost etcd member entry. Subsequent join attempts failed with "member already exists".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305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✓ etcdctl member remove &lt;ID&gt; on master1, then kubeadm reset on the joining master before retry.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71800"/>
            <a:ext cx="56692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566928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26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HAProxy TCP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option forwardfor is HTTP-only — adding it to a TCP frontend causes HAProxy to refuse to start.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9593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✓ Remove forwardfor from all TCP-mode frontends. TCP mode passes raw bytes — HTTP headers are not parsed.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56692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5669280" cy="3657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26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NFS Mount on 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NFS dynamic provisioner pods crashed on startup because nfs-common was not installed on Ubuntu workers.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9593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✓ Ansible one-liner: ansible workers -m apt -a "name=nfs-common state=present" — then rollout restart.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56692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800600"/>
            <a:ext cx="5669280" cy="365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855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Certificate Key Expiry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212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The --certificate-key from kubeadm init expires after 2 hours. Trying to join a new master after that fails silently.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7881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✓ Regenerate with: kubeadm init phase upload-certs --upload-certs on master1.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00600"/>
            <a:ext cx="56692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800600"/>
            <a:ext cx="566928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855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BIND9 DNSSEC Refusing 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212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BIND9 default config enables DNSSEC validation. In a lab without signed zones it REFUSED all queries.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78815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✓ Set dnssec-validation no in named.conf options block.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Cluster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kubectl get nodes -o 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All 6 nodes Ready — 3 control-plane, 3 workers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kubectl get pods 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7099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All system pods Running — Calico, MetalLB, Dashboard,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6888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kubectl get svc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0358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LoadBalancer services with real IPs from MetalLB pool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46888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560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kubectl top nodes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0358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Live CPU and memory via Metrics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86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https://172.25.25.100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3616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Kubernetes Dashboard — live cluster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886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http://172.25.25.10:9000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3616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HAProxy stats — backend health for API and ingress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5120640"/>
            <a:ext cx="566928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5120640"/>
            <a:ext cx="109728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CAF9"/>
                </a:solidFill>
              </a:rPr>
              <a:t>etcdctl endpoint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56875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</a:rPr>
              <a:t>etcd 3-node Raft cluster — all members healthy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Endpoints · Versions · Key 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Service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Kubernetes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https://172.25.25.100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76272"/>
            <a:ext cx="5943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21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HAProxy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963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http://172.25.25.10:9000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43784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889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Kubernetes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63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https://172.25.25.10:6443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11296"/>
            <a:ext cx="5943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557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pfSense Web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313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https://192.168.1.20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78808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DNS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988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172.25.25.254:53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46320"/>
            <a:ext cx="594360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NFS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663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172.25.25.254:/home/nfs/k8s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13832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559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Kafka (planned)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8338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5C0"/>
                </a:solidFill>
              </a:rPr>
              <a:t>172.25.25.101:9092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Component Versions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508760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pfSense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2.8.1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176272"/>
            <a:ext cx="530352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HAProxy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2.8.14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843784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Kubernetes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999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v1.30.14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511296"/>
            <a:ext cx="530352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666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containerd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666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v2.2.5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178808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334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Calico CNI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34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v3.27.0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846320"/>
            <a:ext cx="530352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001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MetalLB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001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v0.14.5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513832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</a:rPr>
              <a:t>v2.7.0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64592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DEFB"/>
                </a:solidFill>
              </a:rPr>
              <a:t>Kubernetes HA Lab — mo.lab.local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AF9"/>
                </a:solidFill>
              </a:rPr>
              <a:t>GitHub: github.com/mshgayar/k8s-pfsense-esxi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2A5F5"/>
                </a:solidFill>
              </a:rPr>
              <a:t>Questions?</a:t>
            </a:r>
          </a:p>
        </p:txBody>
      </p:sp>
      <p:pic>
        <p:nvPicPr>
          <p:cNvPr id="10" name="Picture 9" descr="diagram-kafka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57200"/>
            <a:ext cx="3931920" cy="5900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